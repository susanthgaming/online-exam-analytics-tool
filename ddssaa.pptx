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Roboto" panose="02000000000000000000" pitchFamily="2" charset="0"/>
      <p:regular r:id="rId10"/>
    </p:embeddedFont>
    <p:embeddedFont>
      <p:font typeface="Roboto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3" Type="http://schemas.openxmlformats.org/officeDocument/2006/relationships/image" Target="../media/image31.png"/><Relationship Id="rId21" Type="http://schemas.openxmlformats.org/officeDocument/2006/relationships/image" Target="../media/image49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29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32" Type="http://schemas.openxmlformats.org/officeDocument/2006/relationships/image" Target="../media/image60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28" Type="http://schemas.openxmlformats.org/officeDocument/2006/relationships/image" Target="../media/image56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31" Type="http://schemas.openxmlformats.org/officeDocument/2006/relationships/image" Target="../media/image59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Relationship Id="rId27" Type="http://schemas.openxmlformats.org/officeDocument/2006/relationships/image" Target="../media/image55.png"/><Relationship Id="rId30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38150" cy="2571750"/>
          </a:xfrm>
          <a:custGeom>
            <a:avLst/>
            <a:gdLst/>
            <a:ahLst/>
            <a:cxnLst/>
            <a:rect l="l" t="t" r="r" b="b"/>
            <a:pathLst>
              <a:path w="438150" h="2571750">
                <a:moveTo>
                  <a:pt x="0" y="0"/>
                </a:moveTo>
                <a:lnTo>
                  <a:pt x="438150" y="0"/>
                </a:lnTo>
                <a:lnTo>
                  <a:pt x="4381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59536" y="1308033"/>
            <a:ext cx="9363456" cy="4492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85"/>
              </a:lnSpc>
            </a:pPr>
            <a:r>
              <a:rPr lang="en-US" sz="11943" b="1" spc="-238">
                <a:solidFill>
                  <a:srgbClr val="111111"/>
                </a:solidFill>
                <a:latin typeface="Roboto Bold"/>
                <a:ea typeface="Roboto Bold"/>
                <a:cs typeface="Roboto Bold"/>
                <a:sym typeface="Roboto Bold"/>
              </a:rPr>
              <a:t>Online Examination Analytics Tool</a:t>
            </a:r>
          </a:p>
        </p:txBody>
      </p:sp>
      <p:sp>
        <p:nvSpPr>
          <p:cNvPr id="5" name="Freeform 5"/>
          <p:cNvSpPr/>
          <p:nvPr/>
        </p:nvSpPr>
        <p:spPr>
          <a:xfrm>
            <a:off x="866775" y="6000750"/>
            <a:ext cx="2400300" cy="219075"/>
          </a:xfrm>
          <a:custGeom>
            <a:avLst/>
            <a:gdLst/>
            <a:ahLst/>
            <a:cxnLst/>
            <a:rect l="l" t="t" r="r" b="b"/>
            <a:pathLst>
              <a:path w="2400300" h="219075">
                <a:moveTo>
                  <a:pt x="0" y="0"/>
                </a:moveTo>
                <a:lnTo>
                  <a:pt x="2400300" y="0"/>
                </a:lnTo>
                <a:lnTo>
                  <a:pt x="2400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77824" y="6606692"/>
            <a:ext cx="2706624" cy="47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TEAM MEMBERS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7824" y="7188963"/>
            <a:ext cx="6742176" cy="21151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65"/>
              </a:lnSpc>
            </a:pPr>
            <a:r>
              <a:rPr lang="en-US" sz="2975" dirty="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Roll No.185  – Name Sahith</a:t>
            </a:r>
          </a:p>
          <a:p>
            <a:pPr algn="l">
              <a:lnSpc>
                <a:spcPts val="4165"/>
              </a:lnSpc>
            </a:pPr>
            <a:r>
              <a:rPr lang="en-US" sz="2975" dirty="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Roll No.089  – Name Susanth</a:t>
            </a:r>
          </a:p>
          <a:p>
            <a:pPr algn="l">
              <a:lnSpc>
                <a:spcPts val="4165"/>
              </a:lnSpc>
            </a:pPr>
            <a:r>
              <a:rPr lang="en-US" sz="2975" dirty="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Roll No.047 – Name </a:t>
            </a:r>
            <a:r>
              <a:rPr lang="en-US" sz="2975" dirty="0" err="1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Sakshith</a:t>
            </a:r>
            <a:endParaRPr lang="en-US" sz="2975" dirty="0">
              <a:solidFill>
                <a:srgbClr val="111111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4165"/>
              </a:lnSpc>
            </a:pPr>
            <a:r>
              <a:rPr lang="en-US" sz="2975" dirty="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Roll No.046 – Name Revanth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38150" cy="1714500"/>
          </a:xfrm>
          <a:custGeom>
            <a:avLst/>
            <a:gdLst/>
            <a:ahLst/>
            <a:cxnLst/>
            <a:rect l="l" t="t" r="r" b="b"/>
            <a:pathLst>
              <a:path w="438150" h="1714500">
                <a:moveTo>
                  <a:pt x="0" y="0"/>
                </a:moveTo>
                <a:lnTo>
                  <a:pt x="438150" y="0"/>
                </a:lnTo>
                <a:lnTo>
                  <a:pt x="4381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04672" y="506921"/>
            <a:ext cx="8156448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8"/>
              </a:lnSpc>
            </a:pPr>
            <a:r>
              <a:rPr lang="en-US" sz="7973" b="1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Literature Review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" y="1919163"/>
            <a:ext cx="12508992" cy="37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Key research areas and insights informing the development of the online examination analytics tool.</a:t>
            </a:r>
          </a:p>
        </p:txBody>
      </p:sp>
      <p:sp>
        <p:nvSpPr>
          <p:cNvPr id="6" name="Freeform 6"/>
          <p:cNvSpPr/>
          <p:nvPr/>
        </p:nvSpPr>
        <p:spPr>
          <a:xfrm>
            <a:off x="428625" y="2571750"/>
            <a:ext cx="1752600" cy="1076325"/>
          </a:xfrm>
          <a:custGeom>
            <a:avLst/>
            <a:gdLst/>
            <a:ahLst/>
            <a:cxnLst/>
            <a:rect l="l" t="t" r="r" b="b"/>
            <a:pathLst>
              <a:path w="1752600" h="1076325">
                <a:moveTo>
                  <a:pt x="0" y="0"/>
                </a:moveTo>
                <a:lnTo>
                  <a:pt x="1752600" y="0"/>
                </a:lnTo>
                <a:lnTo>
                  <a:pt x="175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952625" y="2571750"/>
            <a:ext cx="3933825" cy="1076325"/>
          </a:xfrm>
          <a:custGeom>
            <a:avLst/>
            <a:gdLst/>
            <a:ahLst/>
            <a:cxnLst/>
            <a:rect l="l" t="t" r="r" b="b"/>
            <a:pathLst>
              <a:path w="3933825" h="1076325">
                <a:moveTo>
                  <a:pt x="0" y="0"/>
                </a:moveTo>
                <a:lnTo>
                  <a:pt x="3933825" y="0"/>
                </a:lnTo>
                <a:lnTo>
                  <a:pt x="3933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657850" y="2571750"/>
            <a:ext cx="3705225" cy="1076325"/>
          </a:xfrm>
          <a:custGeom>
            <a:avLst/>
            <a:gdLst/>
            <a:ahLst/>
            <a:cxnLst/>
            <a:rect l="l" t="t" r="r" b="b"/>
            <a:pathLst>
              <a:path w="3705225" h="1076325">
                <a:moveTo>
                  <a:pt x="0" y="0"/>
                </a:moveTo>
                <a:lnTo>
                  <a:pt x="3705225" y="0"/>
                </a:lnTo>
                <a:lnTo>
                  <a:pt x="3705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998464" y="2906265"/>
            <a:ext cx="2889504" cy="3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159" b="1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METHOD / TECHNIQUE</a:t>
            </a:r>
          </a:p>
        </p:txBody>
      </p:sp>
      <p:sp>
        <p:nvSpPr>
          <p:cNvPr id="10" name="Freeform 10"/>
          <p:cNvSpPr/>
          <p:nvPr/>
        </p:nvSpPr>
        <p:spPr>
          <a:xfrm>
            <a:off x="9144000" y="2571750"/>
            <a:ext cx="5010150" cy="1076325"/>
          </a:xfrm>
          <a:custGeom>
            <a:avLst/>
            <a:gdLst/>
            <a:ahLst/>
            <a:cxnLst/>
            <a:rect l="l" t="t" r="r" b="b"/>
            <a:pathLst>
              <a:path w="5010150" h="1076325">
                <a:moveTo>
                  <a:pt x="0" y="0"/>
                </a:moveTo>
                <a:lnTo>
                  <a:pt x="5010150" y="0"/>
                </a:lnTo>
                <a:lnTo>
                  <a:pt x="5010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735056" y="2910577"/>
            <a:ext cx="1627632" cy="365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2124" b="1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KEY FINDING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925550" y="2571750"/>
            <a:ext cx="3933825" cy="1076325"/>
          </a:xfrm>
          <a:custGeom>
            <a:avLst/>
            <a:gdLst/>
            <a:ahLst/>
            <a:cxnLst/>
            <a:rect l="l" t="t" r="r" b="b"/>
            <a:pathLst>
              <a:path w="3933825" h="1076325">
                <a:moveTo>
                  <a:pt x="0" y="0"/>
                </a:moveTo>
                <a:lnTo>
                  <a:pt x="3933825" y="0"/>
                </a:lnTo>
                <a:lnTo>
                  <a:pt x="3933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051024" y="2923964"/>
            <a:ext cx="1481328" cy="347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b="1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LIMITATION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3856" y="3693985"/>
            <a:ext cx="347472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5"/>
              </a:lnSpc>
            </a:pPr>
            <a:r>
              <a:rPr lang="en-US" sz="5988" b="1">
                <a:solidFill>
                  <a:srgbClr val="F4824B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3856" y="4918138"/>
            <a:ext cx="347472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5"/>
              </a:lnSpc>
            </a:pPr>
            <a:r>
              <a:rPr lang="en-US" sz="5988" b="1">
                <a:solidFill>
                  <a:srgbClr val="F4824B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3856" y="8549449"/>
            <a:ext cx="347472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5"/>
              </a:lnSpc>
            </a:pPr>
            <a:r>
              <a:rPr lang="en-US" sz="5988" b="1">
                <a:solidFill>
                  <a:srgbClr val="F4824B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42032" y="3726315"/>
            <a:ext cx="2670048" cy="781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Online Examination &amp; Score Analysis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42032" y="4969068"/>
            <a:ext cx="2670048" cy="753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Student Performance Analysis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42032" y="6152073"/>
            <a:ext cx="2377440" cy="753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Exam Performance Prediction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42032" y="7535865"/>
            <a:ext cx="2304288" cy="37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Learning Analytics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42032" y="8691871"/>
            <a:ext cx="2798064" cy="365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Formative Assessment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36208" y="3914391"/>
            <a:ext cx="1481328" cy="3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Data Mining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36208" y="4968618"/>
            <a:ext cx="1481328" cy="75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Educational</a:t>
            </a:r>
          </a:p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Data Mining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36208" y="6151623"/>
            <a:ext cx="1682496" cy="75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Classification</a:t>
            </a:r>
          </a:p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Algorithms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36208" y="7357626"/>
            <a:ext cx="1481328" cy="781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Interactive</a:t>
            </a:r>
          </a:p>
          <a:p>
            <a:pPr algn="l">
              <a:lnSpc>
                <a:spcPts val="3122"/>
              </a:lnSpc>
            </a:pPr>
            <a:r>
              <a:rPr lang="en-US" sz="223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Dashboard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36208" y="8592066"/>
            <a:ext cx="2103120" cy="781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Visual Reports &amp; Analytics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37776" y="3744465"/>
            <a:ext cx="3931920" cy="75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Exam data can be analyzed</a:t>
            </a:r>
          </a:p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to identify performance patterns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37776" y="4977693"/>
            <a:ext cx="3657600" cy="73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Academic data can reveal</a:t>
            </a:r>
          </a:p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factors affecting performance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37776" y="6151623"/>
            <a:ext cx="4133088" cy="75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ML models can predict</a:t>
            </a:r>
          </a:p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student examination performance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37776" y="7375776"/>
            <a:ext cx="2670048" cy="75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Visual analytics helps</a:t>
            </a:r>
          </a:p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identify learning gaps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37776" y="8592066"/>
            <a:ext cx="3547872" cy="781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Visual feedback can support student learning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538960" y="3726315"/>
            <a:ext cx="2670048" cy="781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Limited student-level feedback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538960" y="4968618"/>
            <a:ext cx="2304288" cy="75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Mainly analysis/</a:t>
            </a:r>
          </a:p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prediction focused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538960" y="6151623"/>
            <a:ext cx="2907792" cy="75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Does not conduct and analyze exams together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538960" y="7376226"/>
            <a:ext cx="2304288" cy="753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Mostly</a:t>
            </a:r>
          </a:p>
          <a:p>
            <a:pPr algn="l">
              <a:lnSpc>
                <a:spcPts val="3073"/>
              </a:lnSpc>
            </a:pPr>
            <a:r>
              <a:rPr lang="en-US" sz="2195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instructor-oriented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538960" y="8592066"/>
            <a:ext cx="2359152" cy="781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More complex and context-specific</a:t>
            </a:r>
          </a:p>
        </p:txBody>
      </p:sp>
      <p:sp>
        <p:nvSpPr>
          <p:cNvPr id="37" name="Freeform 37"/>
          <p:cNvSpPr/>
          <p:nvPr/>
        </p:nvSpPr>
        <p:spPr>
          <a:xfrm>
            <a:off x="1952625" y="2571750"/>
            <a:ext cx="228600" cy="7077075"/>
          </a:xfrm>
          <a:custGeom>
            <a:avLst/>
            <a:gdLst/>
            <a:ahLst/>
            <a:cxnLst/>
            <a:rect l="l" t="t" r="r" b="b"/>
            <a:pathLst>
              <a:path w="228600" h="7077075">
                <a:moveTo>
                  <a:pt x="0" y="0"/>
                </a:moveTo>
                <a:lnTo>
                  <a:pt x="228600" y="0"/>
                </a:lnTo>
                <a:lnTo>
                  <a:pt x="228600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5657850" y="2571750"/>
            <a:ext cx="228600" cy="7077075"/>
          </a:xfrm>
          <a:custGeom>
            <a:avLst/>
            <a:gdLst/>
            <a:ahLst/>
            <a:cxnLst/>
            <a:rect l="l" t="t" r="r" b="b"/>
            <a:pathLst>
              <a:path w="228600" h="7077075">
                <a:moveTo>
                  <a:pt x="0" y="0"/>
                </a:moveTo>
                <a:lnTo>
                  <a:pt x="228600" y="0"/>
                </a:lnTo>
                <a:lnTo>
                  <a:pt x="228600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9144000" y="2571750"/>
            <a:ext cx="219075" cy="7077075"/>
          </a:xfrm>
          <a:custGeom>
            <a:avLst/>
            <a:gdLst/>
            <a:ahLst/>
            <a:cxnLst/>
            <a:rect l="l" t="t" r="r" b="b"/>
            <a:pathLst>
              <a:path w="219075" h="7077075">
                <a:moveTo>
                  <a:pt x="0" y="0"/>
                </a:moveTo>
                <a:lnTo>
                  <a:pt x="219075" y="0"/>
                </a:lnTo>
                <a:lnTo>
                  <a:pt x="219075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3925550" y="2571750"/>
            <a:ext cx="228600" cy="7077075"/>
          </a:xfrm>
          <a:custGeom>
            <a:avLst/>
            <a:gdLst/>
            <a:ahLst/>
            <a:cxnLst/>
            <a:rect l="l" t="t" r="r" b="b"/>
            <a:pathLst>
              <a:path w="228600" h="7077075">
                <a:moveTo>
                  <a:pt x="0" y="0"/>
                </a:moveTo>
                <a:lnTo>
                  <a:pt x="228600" y="0"/>
                </a:lnTo>
                <a:lnTo>
                  <a:pt x="228600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133856" y="6142291"/>
            <a:ext cx="347472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5"/>
              </a:lnSpc>
            </a:pPr>
            <a:r>
              <a:rPr lang="en-US" sz="5988" b="1">
                <a:solidFill>
                  <a:srgbClr val="F4824B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3856" y="7325296"/>
            <a:ext cx="347472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5"/>
              </a:lnSpc>
            </a:pPr>
            <a:r>
              <a:rPr lang="en-US" sz="5988" b="1">
                <a:solidFill>
                  <a:srgbClr val="F4824B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24128" y="2892878"/>
            <a:ext cx="658368" cy="39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 b="1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S.NO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560320" y="2906715"/>
            <a:ext cx="2194560" cy="37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2195" b="1">
                <a:solidFill>
                  <a:srgbClr val="121212"/>
                </a:solidFill>
                <a:latin typeface="Roboto Bold"/>
                <a:ea typeface="Roboto Bold"/>
                <a:cs typeface="Roboto Bold"/>
                <a:sym typeface="Roboto Bold"/>
              </a:rPr>
              <a:t>RESEARCH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38150" cy="1714500"/>
          </a:xfrm>
          <a:custGeom>
            <a:avLst/>
            <a:gdLst/>
            <a:ahLst/>
            <a:cxnLst/>
            <a:rect l="l" t="t" r="r" b="b"/>
            <a:pathLst>
              <a:path w="438150" h="1714500">
                <a:moveTo>
                  <a:pt x="0" y="0"/>
                </a:moveTo>
                <a:lnTo>
                  <a:pt x="438150" y="0"/>
                </a:lnTo>
                <a:lnTo>
                  <a:pt x="4381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8096" y="554926"/>
            <a:ext cx="10552176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7"/>
              </a:lnSpc>
            </a:pPr>
            <a:r>
              <a:rPr lang="en-US" sz="7548" b="1" spc="-1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Proposed Methodology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8096" y="1944311"/>
            <a:ext cx="7900416" cy="362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23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stepwise approach from examination to actionable insights.</a:t>
            </a:r>
          </a:p>
        </p:txBody>
      </p:sp>
      <p:sp>
        <p:nvSpPr>
          <p:cNvPr id="6" name="Freeform 6"/>
          <p:cNvSpPr/>
          <p:nvPr/>
        </p:nvSpPr>
        <p:spPr>
          <a:xfrm>
            <a:off x="647700" y="3000375"/>
            <a:ext cx="2619375" cy="6858000"/>
          </a:xfrm>
          <a:custGeom>
            <a:avLst/>
            <a:gdLst/>
            <a:ahLst/>
            <a:cxnLst/>
            <a:rect l="l" t="t" r="r" b="b"/>
            <a:pathLst>
              <a:path w="2619375" h="6858000">
                <a:moveTo>
                  <a:pt x="0" y="0"/>
                </a:moveTo>
                <a:lnTo>
                  <a:pt x="2619375" y="0"/>
                </a:lnTo>
                <a:lnTo>
                  <a:pt x="26193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52144" y="3428429"/>
            <a:ext cx="475488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8"/>
              </a:lnSpc>
            </a:pPr>
            <a:r>
              <a:rPr lang="en-US" sz="7973" b="1" spc="-159">
                <a:solidFill>
                  <a:srgbClr val="F88A56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id="8" name="Freeform 8"/>
          <p:cNvSpPr/>
          <p:nvPr/>
        </p:nvSpPr>
        <p:spPr>
          <a:xfrm>
            <a:off x="1733550" y="3857625"/>
            <a:ext cx="1752600" cy="428625"/>
          </a:xfrm>
          <a:custGeom>
            <a:avLst/>
            <a:gdLst/>
            <a:ahLst/>
            <a:cxnLst/>
            <a:rect l="l" t="t" r="r" b="b"/>
            <a:pathLst>
              <a:path w="1752600" h="428625">
                <a:moveTo>
                  <a:pt x="0" y="0"/>
                </a:moveTo>
                <a:lnTo>
                  <a:pt x="1752600" y="0"/>
                </a:lnTo>
                <a:lnTo>
                  <a:pt x="1752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78992" y="4913857"/>
            <a:ext cx="1682496" cy="83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Student Registration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8992" y="6106212"/>
            <a:ext cx="1883664" cy="1621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19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Student record is created or an existing record is selected.</a:t>
            </a:r>
          </a:p>
        </p:txBody>
      </p:sp>
      <p:sp>
        <p:nvSpPr>
          <p:cNvPr id="11" name="Freeform 11"/>
          <p:cNvSpPr/>
          <p:nvPr/>
        </p:nvSpPr>
        <p:spPr>
          <a:xfrm>
            <a:off x="3048000" y="3000375"/>
            <a:ext cx="2619375" cy="6858000"/>
          </a:xfrm>
          <a:custGeom>
            <a:avLst/>
            <a:gdLst/>
            <a:ahLst/>
            <a:cxnLst/>
            <a:rect l="l" t="t" r="r" b="b"/>
            <a:pathLst>
              <a:path w="2619375" h="6858000">
                <a:moveTo>
                  <a:pt x="0" y="0"/>
                </a:moveTo>
                <a:lnTo>
                  <a:pt x="2619375" y="0"/>
                </a:lnTo>
                <a:lnTo>
                  <a:pt x="26193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584448" y="3428429"/>
            <a:ext cx="58521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8"/>
              </a:lnSpc>
            </a:pPr>
            <a:r>
              <a:rPr lang="en-US" sz="7973" b="1" spc="-159">
                <a:solidFill>
                  <a:srgbClr val="F88A56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id="13" name="Freeform 13"/>
          <p:cNvSpPr/>
          <p:nvPr/>
        </p:nvSpPr>
        <p:spPr>
          <a:xfrm>
            <a:off x="4133850" y="3857625"/>
            <a:ext cx="1752600" cy="428625"/>
          </a:xfrm>
          <a:custGeom>
            <a:avLst/>
            <a:gdLst/>
            <a:ahLst/>
            <a:cxnLst/>
            <a:rect l="l" t="t" r="r" b="b"/>
            <a:pathLst>
              <a:path w="1752600" h="428625">
                <a:moveTo>
                  <a:pt x="0" y="0"/>
                </a:moveTo>
                <a:lnTo>
                  <a:pt x="1752600" y="0"/>
                </a:lnTo>
                <a:lnTo>
                  <a:pt x="1752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529584" y="4912074"/>
            <a:ext cx="1682496" cy="41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Examination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29584" y="6110403"/>
            <a:ext cx="1755648" cy="1212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19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Student attends the online examination.</a:t>
            </a:r>
          </a:p>
        </p:txBody>
      </p:sp>
      <p:sp>
        <p:nvSpPr>
          <p:cNvPr id="16" name="Freeform 16"/>
          <p:cNvSpPr/>
          <p:nvPr/>
        </p:nvSpPr>
        <p:spPr>
          <a:xfrm>
            <a:off x="5657850" y="3000375"/>
            <a:ext cx="2400300" cy="6858000"/>
          </a:xfrm>
          <a:custGeom>
            <a:avLst/>
            <a:gdLst/>
            <a:ahLst/>
            <a:cxnLst/>
            <a:rect l="l" t="t" r="r" b="b"/>
            <a:pathLst>
              <a:path w="2400300" h="6858000">
                <a:moveTo>
                  <a:pt x="0" y="0"/>
                </a:moveTo>
                <a:lnTo>
                  <a:pt x="2400300" y="0"/>
                </a:lnTo>
                <a:lnTo>
                  <a:pt x="24003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016752" y="3428429"/>
            <a:ext cx="58521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8"/>
              </a:lnSpc>
            </a:pPr>
            <a:r>
              <a:rPr lang="en-US" sz="7973" b="1" spc="-159">
                <a:solidFill>
                  <a:srgbClr val="F88A56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id="18" name="Freeform 18"/>
          <p:cNvSpPr/>
          <p:nvPr/>
        </p:nvSpPr>
        <p:spPr>
          <a:xfrm>
            <a:off x="6524625" y="3857625"/>
            <a:ext cx="1752600" cy="428625"/>
          </a:xfrm>
          <a:custGeom>
            <a:avLst/>
            <a:gdLst/>
            <a:ahLst/>
            <a:cxnLst/>
            <a:rect l="l" t="t" r="r" b="b"/>
            <a:pathLst>
              <a:path w="1752600" h="428625">
                <a:moveTo>
                  <a:pt x="0" y="0"/>
                </a:moveTo>
                <a:lnTo>
                  <a:pt x="1752600" y="0"/>
                </a:lnTo>
                <a:lnTo>
                  <a:pt x="1752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961888" y="4913857"/>
            <a:ext cx="1408176" cy="83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Answer Collection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61888" y="6110403"/>
            <a:ext cx="1389888" cy="1212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19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Selected answers are recorded.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48625" y="3000375"/>
            <a:ext cx="2409825" cy="6858000"/>
          </a:xfrm>
          <a:custGeom>
            <a:avLst/>
            <a:gdLst/>
            <a:ahLst/>
            <a:cxnLst/>
            <a:rect l="l" t="t" r="r" b="b"/>
            <a:pathLst>
              <a:path w="2409825" h="6858000">
                <a:moveTo>
                  <a:pt x="0" y="0"/>
                </a:moveTo>
                <a:lnTo>
                  <a:pt x="2409825" y="0"/>
                </a:lnTo>
                <a:lnTo>
                  <a:pt x="240982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357616" y="3428429"/>
            <a:ext cx="58521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8"/>
              </a:lnSpc>
            </a:pPr>
            <a:r>
              <a:rPr lang="en-US" sz="7973" b="1" spc="-159">
                <a:solidFill>
                  <a:srgbClr val="F88A56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23" name="Freeform 23"/>
          <p:cNvSpPr/>
          <p:nvPr/>
        </p:nvSpPr>
        <p:spPr>
          <a:xfrm>
            <a:off x="8924925" y="3857625"/>
            <a:ext cx="1743075" cy="428625"/>
          </a:xfrm>
          <a:custGeom>
            <a:avLst/>
            <a:gdLst/>
            <a:ahLst/>
            <a:cxnLst/>
            <a:rect l="l" t="t" r="r" b="b"/>
            <a:pathLst>
              <a:path w="1743075" h="428625">
                <a:moveTo>
                  <a:pt x="0" y="0"/>
                </a:moveTo>
                <a:lnTo>
                  <a:pt x="1743075" y="0"/>
                </a:lnTo>
                <a:lnTo>
                  <a:pt x="17430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8357616" y="4913857"/>
            <a:ext cx="1444752" cy="83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Automatic Evaluation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57616" y="6106384"/>
            <a:ext cx="1645920" cy="249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194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Answers are compared with the correct answers and the score is calculated.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448925" y="3000375"/>
            <a:ext cx="2400300" cy="6858000"/>
          </a:xfrm>
          <a:custGeom>
            <a:avLst/>
            <a:gdLst/>
            <a:ahLst/>
            <a:cxnLst/>
            <a:rect l="l" t="t" r="r" b="b"/>
            <a:pathLst>
              <a:path w="2400300" h="6858000">
                <a:moveTo>
                  <a:pt x="0" y="0"/>
                </a:moveTo>
                <a:lnTo>
                  <a:pt x="2400300" y="0"/>
                </a:lnTo>
                <a:lnTo>
                  <a:pt x="24003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0789920" y="3428429"/>
            <a:ext cx="58521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8"/>
              </a:lnSpc>
            </a:pPr>
            <a:r>
              <a:rPr lang="en-US" sz="7973" b="1" spc="-159">
                <a:solidFill>
                  <a:srgbClr val="F88A56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id="28" name="Freeform 28"/>
          <p:cNvSpPr/>
          <p:nvPr/>
        </p:nvSpPr>
        <p:spPr>
          <a:xfrm>
            <a:off x="11315700" y="3857625"/>
            <a:ext cx="1752600" cy="428625"/>
          </a:xfrm>
          <a:custGeom>
            <a:avLst/>
            <a:gdLst/>
            <a:ahLst/>
            <a:cxnLst/>
            <a:rect l="l" t="t" r="r" b="b"/>
            <a:pathLst>
              <a:path w="1752600" h="428625">
                <a:moveTo>
                  <a:pt x="0" y="0"/>
                </a:moveTo>
                <a:lnTo>
                  <a:pt x="1752600" y="0"/>
                </a:lnTo>
                <a:lnTo>
                  <a:pt x="1752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0735056" y="4922482"/>
            <a:ext cx="1060704" cy="8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337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Result Storage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35056" y="6106212"/>
            <a:ext cx="1408176" cy="1621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19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Examination results are stored in the database.</a:t>
            </a:r>
          </a:p>
        </p:txBody>
      </p:sp>
      <p:sp>
        <p:nvSpPr>
          <p:cNvPr id="31" name="Freeform 31"/>
          <p:cNvSpPr/>
          <p:nvPr/>
        </p:nvSpPr>
        <p:spPr>
          <a:xfrm>
            <a:off x="12620625" y="3000375"/>
            <a:ext cx="2619375" cy="6858000"/>
          </a:xfrm>
          <a:custGeom>
            <a:avLst/>
            <a:gdLst/>
            <a:ahLst/>
            <a:cxnLst/>
            <a:rect l="l" t="t" r="r" b="b"/>
            <a:pathLst>
              <a:path w="2619375" h="6858000">
                <a:moveTo>
                  <a:pt x="0" y="0"/>
                </a:moveTo>
                <a:lnTo>
                  <a:pt x="2619375" y="0"/>
                </a:lnTo>
                <a:lnTo>
                  <a:pt x="26193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3185648" y="3428429"/>
            <a:ext cx="58521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8"/>
              </a:lnSpc>
            </a:pPr>
            <a:r>
              <a:rPr lang="en-US" sz="7973" b="1" spc="-159">
                <a:solidFill>
                  <a:srgbClr val="F88A56"/>
                </a:solidFill>
                <a:latin typeface="Roboto Bold"/>
                <a:ea typeface="Roboto Bold"/>
                <a:cs typeface="Roboto Bold"/>
                <a:sym typeface="Roboto Bold"/>
              </a:rPr>
              <a:t>6</a:t>
            </a:r>
          </a:p>
        </p:txBody>
      </p:sp>
      <p:sp>
        <p:nvSpPr>
          <p:cNvPr id="33" name="Freeform 33"/>
          <p:cNvSpPr/>
          <p:nvPr/>
        </p:nvSpPr>
        <p:spPr>
          <a:xfrm>
            <a:off x="13716000" y="3857625"/>
            <a:ext cx="1743075" cy="428625"/>
          </a:xfrm>
          <a:custGeom>
            <a:avLst/>
            <a:gdLst/>
            <a:ahLst/>
            <a:cxnLst/>
            <a:rect l="l" t="t" r="r" b="b"/>
            <a:pathLst>
              <a:path w="1743075" h="428625">
                <a:moveTo>
                  <a:pt x="0" y="0"/>
                </a:moveTo>
                <a:lnTo>
                  <a:pt x="1743075" y="0"/>
                </a:lnTo>
                <a:lnTo>
                  <a:pt x="17430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3130784" y="4913857"/>
            <a:ext cx="1810512" cy="83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Performance Analysis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130784" y="6117451"/>
            <a:ext cx="1627632" cy="2031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19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Stored results are processed for meaningful performance metrics.</a:t>
            </a:r>
          </a:p>
        </p:txBody>
      </p:sp>
      <p:sp>
        <p:nvSpPr>
          <p:cNvPr id="36" name="Freeform 36"/>
          <p:cNvSpPr/>
          <p:nvPr/>
        </p:nvSpPr>
        <p:spPr>
          <a:xfrm>
            <a:off x="15240000" y="3000375"/>
            <a:ext cx="2400300" cy="6858000"/>
          </a:xfrm>
          <a:custGeom>
            <a:avLst/>
            <a:gdLst/>
            <a:ahLst/>
            <a:cxnLst/>
            <a:rect l="l" t="t" r="r" b="b"/>
            <a:pathLst>
              <a:path w="2400300" h="6858000">
                <a:moveTo>
                  <a:pt x="0" y="0"/>
                </a:moveTo>
                <a:lnTo>
                  <a:pt x="2400300" y="0"/>
                </a:lnTo>
                <a:lnTo>
                  <a:pt x="24003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5617952" y="3428429"/>
            <a:ext cx="58521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8"/>
              </a:lnSpc>
            </a:pPr>
            <a:r>
              <a:rPr lang="en-US" sz="7973" b="1" spc="-159">
                <a:solidFill>
                  <a:srgbClr val="F88A56"/>
                </a:solidFill>
                <a:latin typeface="Roboto Bold"/>
                <a:ea typeface="Roboto Bold"/>
                <a:cs typeface="Roboto Bold"/>
                <a:sym typeface="Roboto Bold"/>
              </a:rPr>
              <a:t>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563088" y="4916386"/>
            <a:ext cx="1737360" cy="4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337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Visualization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563088" y="6117451"/>
            <a:ext cx="1298448" cy="2031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191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Results are presented through an analytics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28625"/>
            <a:ext cx="438150" cy="1076325"/>
          </a:xfrm>
          <a:custGeom>
            <a:avLst/>
            <a:gdLst/>
            <a:ahLst/>
            <a:cxnLst/>
            <a:rect l="l" t="t" r="r" b="b"/>
            <a:pathLst>
              <a:path w="438150" h="1076325">
                <a:moveTo>
                  <a:pt x="0" y="0"/>
                </a:moveTo>
                <a:lnTo>
                  <a:pt x="438150" y="0"/>
                </a:lnTo>
                <a:lnTo>
                  <a:pt x="43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86384" y="379095"/>
            <a:ext cx="8942832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6"/>
              </a:lnSpc>
            </a:pPr>
            <a:r>
              <a:rPr lang="en-US" sz="6413" b="1" spc="-19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Methodology Workflow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6384" y="1545336"/>
            <a:ext cx="601675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spc="-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From exam attempt to actionable analytics insights.</a:t>
            </a:r>
          </a:p>
        </p:txBody>
      </p:sp>
      <p:sp>
        <p:nvSpPr>
          <p:cNvPr id="6" name="Freeform 6"/>
          <p:cNvSpPr/>
          <p:nvPr/>
        </p:nvSpPr>
        <p:spPr>
          <a:xfrm>
            <a:off x="6305550" y="2143125"/>
            <a:ext cx="5457825" cy="428625"/>
          </a:xfrm>
          <a:custGeom>
            <a:avLst/>
            <a:gdLst/>
            <a:ahLst/>
            <a:cxnLst/>
            <a:rect l="l" t="t" r="r" b="b"/>
            <a:pathLst>
              <a:path w="5457825" h="428625">
                <a:moveTo>
                  <a:pt x="0" y="0"/>
                </a:moveTo>
                <a:lnTo>
                  <a:pt x="5457825" y="0"/>
                </a:lnTo>
                <a:lnTo>
                  <a:pt x="54578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467344" y="2213991"/>
            <a:ext cx="117043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STUDENT</a:t>
            </a:r>
          </a:p>
        </p:txBody>
      </p:sp>
      <p:sp>
        <p:nvSpPr>
          <p:cNvPr id="8" name="Freeform 8"/>
          <p:cNvSpPr/>
          <p:nvPr/>
        </p:nvSpPr>
        <p:spPr>
          <a:xfrm>
            <a:off x="8705850" y="2571750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05550" y="2781300"/>
            <a:ext cx="5457825" cy="647700"/>
          </a:xfrm>
          <a:custGeom>
            <a:avLst/>
            <a:gdLst/>
            <a:ahLst/>
            <a:cxnLst/>
            <a:rect l="l" t="t" r="r" b="b"/>
            <a:pathLst>
              <a:path w="5457825" h="647700">
                <a:moveTo>
                  <a:pt x="0" y="0"/>
                </a:moveTo>
                <a:lnTo>
                  <a:pt x="5457825" y="0"/>
                </a:lnTo>
                <a:lnTo>
                  <a:pt x="5457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680960" y="2892933"/>
            <a:ext cx="270662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REGISTRATION / LOGIN</a:t>
            </a:r>
          </a:p>
        </p:txBody>
      </p:sp>
      <p:sp>
        <p:nvSpPr>
          <p:cNvPr id="11" name="Freeform 11"/>
          <p:cNvSpPr/>
          <p:nvPr/>
        </p:nvSpPr>
        <p:spPr>
          <a:xfrm>
            <a:off x="8705850" y="3209925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05550" y="3429000"/>
            <a:ext cx="5457825" cy="647700"/>
          </a:xfrm>
          <a:custGeom>
            <a:avLst/>
            <a:gdLst/>
            <a:ahLst/>
            <a:cxnLst/>
            <a:rect l="l" t="t" r="r" b="b"/>
            <a:pathLst>
              <a:path w="5457825" h="647700">
                <a:moveTo>
                  <a:pt x="0" y="0"/>
                </a:moveTo>
                <a:lnTo>
                  <a:pt x="5457825" y="0"/>
                </a:lnTo>
                <a:lnTo>
                  <a:pt x="5457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717536" y="3571875"/>
            <a:ext cx="263347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SELECT EXAMINATION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8705850" y="3857625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305550" y="4067175"/>
            <a:ext cx="5457825" cy="647700"/>
          </a:xfrm>
          <a:custGeom>
            <a:avLst/>
            <a:gdLst/>
            <a:ahLst/>
            <a:cxnLst/>
            <a:rect l="l" t="t" r="r" b="b"/>
            <a:pathLst>
              <a:path w="5457825" h="647700">
                <a:moveTo>
                  <a:pt x="0" y="0"/>
                </a:moveTo>
                <a:lnTo>
                  <a:pt x="5457825" y="0"/>
                </a:lnTo>
                <a:lnTo>
                  <a:pt x="5457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754112" y="4240530"/>
            <a:ext cx="256032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 QUESTIONS</a:t>
            </a:r>
          </a:p>
        </p:txBody>
      </p:sp>
      <p:sp>
        <p:nvSpPr>
          <p:cNvPr id="17" name="Freeform 17"/>
          <p:cNvSpPr/>
          <p:nvPr/>
        </p:nvSpPr>
        <p:spPr>
          <a:xfrm>
            <a:off x="8705850" y="4495800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305550" y="4714875"/>
            <a:ext cx="5457825" cy="647700"/>
          </a:xfrm>
          <a:custGeom>
            <a:avLst/>
            <a:gdLst/>
            <a:ahLst/>
            <a:cxnLst/>
            <a:rect l="l" t="t" r="r" b="b"/>
            <a:pathLst>
              <a:path w="5457825" h="647700">
                <a:moveTo>
                  <a:pt x="0" y="0"/>
                </a:moveTo>
                <a:lnTo>
                  <a:pt x="5457825" y="0"/>
                </a:lnTo>
                <a:lnTo>
                  <a:pt x="5457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174736" y="4919472"/>
            <a:ext cx="171907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SUBMIT EXAM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05850" y="5143500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305550" y="5353050"/>
            <a:ext cx="5457825" cy="647700"/>
          </a:xfrm>
          <a:custGeom>
            <a:avLst/>
            <a:gdLst/>
            <a:ahLst/>
            <a:cxnLst/>
            <a:rect l="l" t="t" r="r" b="b"/>
            <a:pathLst>
              <a:path w="5457825" h="647700">
                <a:moveTo>
                  <a:pt x="0" y="0"/>
                </a:moveTo>
                <a:lnTo>
                  <a:pt x="5457825" y="0"/>
                </a:lnTo>
                <a:lnTo>
                  <a:pt x="5457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534656" y="5588127"/>
            <a:ext cx="303580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AUTOMATIC EVALUATION</a:t>
            </a:r>
          </a:p>
        </p:txBody>
      </p:sp>
      <p:sp>
        <p:nvSpPr>
          <p:cNvPr id="23" name="Freeform 23"/>
          <p:cNvSpPr/>
          <p:nvPr/>
        </p:nvSpPr>
        <p:spPr>
          <a:xfrm>
            <a:off x="8705850" y="5781675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305550" y="6000750"/>
            <a:ext cx="5457825" cy="647700"/>
          </a:xfrm>
          <a:custGeom>
            <a:avLst/>
            <a:gdLst/>
            <a:ahLst/>
            <a:cxnLst/>
            <a:rect l="l" t="t" r="r" b="b"/>
            <a:pathLst>
              <a:path w="5457825" h="647700">
                <a:moveTo>
                  <a:pt x="0" y="0"/>
                </a:moveTo>
                <a:lnTo>
                  <a:pt x="5457825" y="0"/>
                </a:lnTo>
                <a:lnTo>
                  <a:pt x="5457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8083296" y="6256782"/>
            <a:ext cx="190195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STORE RESULTS</a:t>
            </a:r>
          </a:p>
        </p:txBody>
      </p:sp>
      <p:sp>
        <p:nvSpPr>
          <p:cNvPr id="26" name="Freeform 26"/>
          <p:cNvSpPr/>
          <p:nvPr/>
        </p:nvSpPr>
        <p:spPr>
          <a:xfrm>
            <a:off x="8705850" y="6429375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6305550" y="6638925"/>
            <a:ext cx="5457825" cy="647700"/>
          </a:xfrm>
          <a:custGeom>
            <a:avLst/>
            <a:gdLst/>
            <a:ahLst/>
            <a:cxnLst/>
            <a:rect l="l" t="t" r="r" b="b"/>
            <a:pathLst>
              <a:path w="5457825" h="647700">
                <a:moveTo>
                  <a:pt x="0" y="0"/>
                </a:moveTo>
                <a:lnTo>
                  <a:pt x="5457825" y="0"/>
                </a:lnTo>
                <a:lnTo>
                  <a:pt x="5457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7534656" y="6925437"/>
            <a:ext cx="303580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ANALYTICS PROCESSING</a:t>
            </a:r>
          </a:p>
        </p:txBody>
      </p:sp>
      <p:sp>
        <p:nvSpPr>
          <p:cNvPr id="29" name="Freeform 29"/>
          <p:cNvSpPr/>
          <p:nvPr/>
        </p:nvSpPr>
        <p:spPr>
          <a:xfrm>
            <a:off x="8705850" y="7067550"/>
            <a:ext cx="438150" cy="1295400"/>
          </a:xfrm>
          <a:custGeom>
            <a:avLst/>
            <a:gdLst/>
            <a:ahLst/>
            <a:cxnLst/>
            <a:rect l="l" t="t" r="r" b="b"/>
            <a:pathLst>
              <a:path w="438150" h="1295400">
                <a:moveTo>
                  <a:pt x="0" y="0"/>
                </a:moveTo>
                <a:lnTo>
                  <a:pt x="438150" y="0"/>
                </a:lnTo>
                <a:lnTo>
                  <a:pt x="438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4133850" y="7496175"/>
            <a:ext cx="9801225" cy="219075"/>
          </a:xfrm>
          <a:custGeom>
            <a:avLst/>
            <a:gdLst/>
            <a:ahLst/>
            <a:cxnLst/>
            <a:rect l="l" t="t" r="r" b="b"/>
            <a:pathLst>
              <a:path w="9801225" h="219075">
                <a:moveTo>
                  <a:pt x="0" y="0"/>
                </a:moveTo>
                <a:lnTo>
                  <a:pt x="9801225" y="0"/>
                </a:lnTo>
                <a:lnTo>
                  <a:pt x="9801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3914775" y="7496175"/>
            <a:ext cx="447675" cy="866775"/>
          </a:xfrm>
          <a:custGeom>
            <a:avLst/>
            <a:gdLst/>
            <a:ahLst/>
            <a:cxnLst/>
            <a:rect l="l" t="t" r="r" b="b"/>
            <a:pathLst>
              <a:path w="447675" h="866775">
                <a:moveTo>
                  <a:pt x="0" y="0"/>
                </a:moveTo>
                <a:lnTo>
                  <a:pt x="447675" y="0"/>
                </a:lnTo>
                <a:lnTo>
                  <a:pt x="447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2171700" y="8143875"/>
            <a:ext cx="4143375" cy="647700"/>
          </a:xfrm>
          <a:custGeom>
            <a:avLst/>
            <a:gdLst/>
            <a:ahLst/>
            <a:cxnLst/>
            <a:rect l="l" t="t" r="r" b="b"/>
            <a:pathLst>
              <a:path w="4143375" h="647700">
                <a:moveTo>
                  <a:pt x="0" y="0"/>
                </a:moveTo>
                <a:lnTo>
                  <a:pt x="4143375" y="0"/>
                </a:lnTo>
                <a:lnTo>
                  <a:pt x="4143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3182112" y="8242173"/>
            <a:ext cx="204825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SCORE ANALYSIS</a:t>
            </a:r>
          </a:p>
        </p:txBody>
      </p:sp>
      <p:sp>
        <p:nvSpPr>
          <p:cNvPr id="34" name="Freeform 34"/>
          <p:cNvSpPr/>
          <p:nvPr/>
        </p:nvSpPr>
        <p:spPr>
          <a:xfrm>
            <a:off x="4133850" y="8572500"/>
            <a:ext cx="228600" cy="428625"/>
          </a:xfrm>
          <a:custGeom>
            <a:avLst/>
            <a:gdLst/>
            <a:ahLst/>
            <a:cxnLst/>
            <a:rect l="l" t="t" r="r" b="b"/>
            <a:pathLst>
              <a:path w="228600" h="428625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4133850" y="8782050"/>
            <a:ext cx="9801225" cy="438150"/>
          </a:xfrm>
          <a:custGeom>
            <a:avLst/>
            <a:gdLst/>
            <a:ahLst/>
            <a:cxnLst/>
            <a:rect l="l" t="t" r="r" b="b"/>
            <a:pathLst>
              <a:path w="9801225" h="438150">
                <a:moveTo>
                  <a:pt x="0" y="0"/>
                </a:moveTo>
                <a:lnTo>
                  <a:pt x="9801225" y="0"/>
                </a:lnTo>
                <a:lnTo>
                  <a:pt x="9801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8705850" y="8572500"/>
            <a:ext cx="438150" cy="1076325"/>
          </a:xfrm>
          <a:custGeom>
            <a:avLst/>
            <a:gdLst/>
            <a:ahLst/>
            <a:cxnLst/>
            <a:rect l="l" t="t" r="r" b="b"/>
            <a:pathLst>
              <a:path w="438150" h="1076325">
                <a:moveTo>
                  <a:pt x="0" y="0"/>
                </a:moveTo>
                <a:lnTo>
                  <a:pt x="438150" y="0"/>
                </a:lnTo>
                <a:lnTo>
                  <a:pt x="43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743700" y="8143875"/>
            <a:ext cx="4362450" cy="647700"/>
          </a:xfrm>
          <a:custGeom>
            <a:avLst/>
            <a:gdLst/>
            <a:ahLst/>
            <a:cxnLst/>
            <a:rect l="l" t="t" r="r" b="b"/>
            <a:pathLst>
              <a:path w="4362450" h="647700">
                <a:moveTo>
                  <a:pt x="0" y="0"/>
                </a:moveTo>
                <a:lnTo>
                  <a:pt x="4362450" y="0"/>
                </a:lnTo>
                <a:lnTo>
                  <a:pt x="436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8028432" y="8242173"/>
            <a:ext cx="197510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TOPIC ANALYSIS</a:t>
            </a:r>
          </a:p>
        </p:txBody>
      </p:sp>
      <p:sp>
        <p:nvSpPr>
          <p:cNvPr id="39" name="Freeform 39"/>
          <p:cNvSpPr/>
          <p:nvPr/>
        </p:nvSpPr>
        <p:spPr>
          <a:xfrm>
            <a:off x="8705850" y="8143875"/>
            <a:ext cx="438150" cy="219075"/>
          </a:xfrm>
          <a:custGeom>
            <a:avLst/>
            <a:gdLst/>
            <a:ahLst/>
            <a:cxnLst/>
            <a:rect l="l" t="t" r="r" b="b"/>
            <a:pathLst>
              <a:path w="438150" h="219075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3496925" y="7496175"/>
            <a:ext cx="438150" cy="866775"/>
          </a:xfrm>
          <a:custGeom>
            <a:avLst/>
            <a:gdLst/>
            <a:ahLst/>
            <a:cxnLst/>
            <a:rect l="l" t="t" r="r" b="b"/>
            <a:pathLst>
              <a:path w="438150" h="866775">
                <a:moveTo>
                  <a:pt x="0" y="0"/>
                </a:moveTo>
                <a:lnTo>
                  <a:pt x="438150" y="0"/>
                </a:lnTo>
                <a:lnTo>
                  <a:pt x="438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1753850" y="8143875"/>
            <a:ext cx="4143375" cy="647700"/>
          </a:xfrm>
          <a:custGeom>
            <a:avLst/>
            <a:gdLst/>
            <a:ahLst/>
            <a:cxnLst/>
            <a:rect l="l" t="t" r="r" b="b"/>
            <a:pathLst>
              <a:path w="4143375" h="647700">
                <a:moveTo>
                  <a:pt x="0" y="0"/>
                </a:moveTo>
                <a:lnTo>
                  <a:pt x="4143375" y="0"/>
                </a:lnTo>
                <a:lnTo>
                  <a:pt x="4143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2472416" y="8242173"/>
            <a:ext cx="259689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ACCURACY ANALYSIS</a:t>
            </a:r>
          </a:p>
        </p:txBody>
      </p:sp>
      <p:sp>
        <p:nvSpPr>
          <p:cNvPr id="43" name="Freeform 43"/>
          <p:cNvSpPr/>
          <p:nvPr/>
        </p:nvSpPr>
        <p:spPr>
          <a:xfrm>
            <a:off x="13716000" y="8572500"/>
            <a:ext cx="219075" cy="428625"/>
          </a:xfrm>
          <a:custGeom>
            <a:avLst/>
            <a:gdLst/>
            <a:ahLst/>
            <a:cxnLst/>
            <a:rect l="l" t="t" r="r" b="b"/>
            <a:pathLst>
              <a:path w="219075" h="428625">
                <a:moveTo>
                  <a:pt x="0" y="0"/>
                </a:moveTo>
                <a:lnTo>
                  <a:pt x="219075" y="0"/>
                </a:lnTo>
                <a:lnTo>
                  <a:pt x="2190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6305550" y="9429750"/>
            <a:ext cx="5457825" cy="647700"/>
          </a:xfrm>
          <a:custGeom>
            <a:avLst/>
            <a:gdLst/>
            <a:ahLst/>
            <a:cxnLst/>
            <a:rect l="l" t="t" r="r" b="b"/>
            <a:pathLst>
              <a:path w="5457825" h="647700">
                <a:moveTo>
                  <a:pt x="0" y="0"/>
                </a:moveTo>
                <a:lnTo>
                  <a:pt x="5457825" y="0"/>
                </a:lnTo>
                <a:lnTo>
                  <a:pt x="5457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7552944" y="9528048"/>
            <a:ext cx="299923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spc="-5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ANALYTICS DASHBOARD</a:t>
            </a:r>
          </a:p>
        </p:txBody>
      </p:sp>
      <p:sp>
        <p:nvSpPr>
          <p:cNvPr id="46" name="Freeform 46"/>
          <p:cNvSpPr/>
          <p:nvPr/>
        </p:nvSpPr>
        <p:spPr>
          <a:xfrm>
            <a:off x="8705850" y="9429750"/>
            <a:ext cx="438150" cy="219075"/>
          </a:xfrm>
          <a:custGeom>
            <a:avLst/>
            <a:gdLst/>
            <a:ahLst/>
            <a:cxnLst/>
            <a:rect l="l" t="t" r="r" b="b"/>
            <a:pathLst>
              <a:path w="438150" h="219075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38150" cy="1504950"/>
          </a:xfrm>
          <a:custGeom>
            <a:avLst/>
            <a:gdLst/>
            <a:ahLst/>
            <a:cxnLst/>
            <a:rect l="l" t="t" r="r" b="b"/>
            <a:pathLst>
              <a:path w="438150" h="1504950">
                <a:moveTo>
                  <a:pt x="0" y="0"/>
                </a:moveTo>
                <a:lnTo>
                  <a:pt x="438150" y="0"/>
                </a:lnTo>
                <a:lnTo>
                  <a:pt x="438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8096" y="604608"/>
            <a:ext cx="14685264" cy="100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7548" b="1">
                <a:solidFill>
                  <a:srgbClr val="12100E"/>
                </a:solidFill>
                <a:latin typeface="Roboto Bold"/>
                <a:ea typeface="Roboto Bold"/>
                <a:cs typeface="Roboto Bold"/>
                <a:sym typeface="Roboto Bold"/>
              </a:rPr>
              <a:t>DSA Integration in Methodology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1924050"/>
            <a:ext cx="7191375" cy="1295400"/>
          </a:xfrm>
          <a:custGeom>
            <a:avLst/>
            <a:gdLst/>
            <a:ahLst/>
            <a:cxnLst/>
            <a:rect l="l" t="t" r="r" b="b"/>
            <a:pathLst>
              <a:path w="7191375" h="1295400">
                <a:moveTo>
                  <a:pt x="0" y="0"/>
                </a:moveTo>
                <a:lnTo>
                  <a:pt x="7191375" y="0"/>
                </a:lnTo>
                <a:lnTo>
                  <a:pt x="7191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80944" y="2488661"/>
            <a:ext cx="2414016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>
                <a:solidFill>
                  <a:srgbClr val="12100E"/>
                </a:solidFill>
                <a:latin typeface="Roboto Bold"/>
                <a:ea typeface="Roboto Bold"/>
                <a:cs typeface="Roboto Bold"/>
                <a:sym typeface="Roboto Bold"/>
              </a:rPr>
              <a:t>DSA ALGORITHM</a:t>
            </a:r>
          </a:p>
        </p:txBody>
      </p:sp>
      <p:sp>
        <p:nvSpPr>
          <p:cNvPr id="7" name="Freeform 7"/>
          <p:cNvSpPr/>
          <p:nvPr/>
        </p:nvSpPr>
        <p:spPr>
          <a:xfrm>
            <a:off x="7620000" y="1924050"/>
            <a:ext cx="10020300" cy="1295400"/>
          </a:xfrm>
          <a:custGeom>
            <a:avLst/>
            <a:gdLst/>
            <a:ahLst/>
            <a:cxnLst/>
            <a:rect l="l" t="t" r="r" b="b"/>
            <a:pathLst>
              <a:path w="10020300" h="1295400">
                <a:moveTo>
                  <a:pt x="0" y="0"/>
                </a:moveTo>
                <a:lnTo>
                  <a:pt x="10020300" y="0"/>
                </a:lnTo>
                <a:lnTo>
                  <a:pt x="10020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332720" y="2484799"/>
            <a:ext cx="4279392" cy="3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sz="2301" b="1">
                <a:solidFill>
                  <a:srgbClr val="12100E"/>
                </a:solidFill>
                <a:latin typeface="Roboto Bold"/>
                <a:ea typeface="Roboto Bold"/>
                <a:cs typeface="Roboto Bold"/>
                <a:sym typeface="Roboto Bold"/>
              </a:rPr>
              <a:t>APPLICATION IN OUR PROJECT</a:t>
            </a:r>
          </a:p>
        </p:txBody>
      </p:sp>
      <p:sp>
        <p:nvSpPr>
          <p:cNvPr id="9" name="Freeform 9"/>
          <p:cNvSpPr/>
          <p:nvPr/>
        </p:nvSpPr>
        <p:spPr>
          <a:xfrm>
            <a:off x="647700" y="3000375"/>
            <a:ext cx="7191375" cy="1285875"/>
          </a:xfrm>
          <a:custGeom>
            <a:avLst/>
            <a:gdLst/>
            <a:ahLst/>
            <a:cxnLst/>
            <a:rect l="l" t="t" r="r" b="b"/>
            <a:pathLst>
              <a:path w="7191375" h="1285875">
                <a:moveTo>
                  <a:pt x="0" y="0"/>
                </a:moveTo>
                <a:lnTo>
                  <a:pt x="7191375" y="0"/>
                </a:lnTo>
                <a:lnTo>
                  <a:pt x="7191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85616" y="3517137"/>
            <a:ext cx="877824" cy="39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5"/>
              </a:lnSpc>
            </a:pPr>
            <a:r>
              <a:rPr lang="en-US" sz="2975" b="1">
                <a:solidFill>
                  <a:srgbClr val="F4703C"/>
                </a:solidFill>
                <a:latin typeface="Roboto Bold"/>
                <a:ea typeface="Roboto Bold"/>
                <a:cs typeface="Roboto Bold"/>
                <a:sym typeface="Roboto Bold"/>
              </a:rPr>
              <a:t>KMP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7700" y="4286250"/>
            <a:ext cx="7191375" cy="1285875"/>
          </a:xfrm>
          <a:custGeom>
            <a:avLst/>
            <a:gdLst/>
            <a:ahLst/>
            <a:cxnLst/>
            <a:rect l="l" t="t" r="r" b="b"/>
            <a:pathLst>
              <a:path w="7191375" h="1285875">
                <a:moveTo>
                  <a:pt x="0" y="0"/>
                </a:moveTo>
                <a:lnTo>
                  <a:pt x="7191375" y="0"/>
                </a:lnTo>
                <a:lnTo>
                  <a:pt x="7191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145536" y="4638420"/>
            <a:ext cx="2157984" cy="39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5"/>
              </a:lnSpc>
            </a:pPr>
            <a:r>
              <a:rPr lang="en-US" sz="2975" b="1">
                <a:solidFill>
                  <a:srgbClr val="F4703C"/>
                </a:solidFill>
                <a:latin typeface="Roboto Bold"/>
                <a:ea typeface="Roboto Bold"/>
                <a:cs typeface="Roboto Bold"/>
                <a:sym typeface="Roboto Bold"/>
              </a:rPr>
              <a:t>Rabin-Karp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7700" y="5353050"/>
            <a:ext cx="7191375" cy="1295400"/>
          </a:xfrm>
          <a:custGeom>
            <a:avLst/>
            <a:gdLst/>
            <a:ahLst/>
            <a:cxnLst/>
            <a:rect l="l" t="t" r="r" b="b"/>
            <a:pathLst>
              <a:path w="7191375" h="1295400">
                <a:moveTo>
                  <a:pt x="0" y="0"/>
                </a:moveTo>
                <a:lnTo>
                  <a:pt x="7191375" y="0"/>
                </a:lnTo>
                <a:lnTo>
                  <a:pt x="7191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103120" y="5769990"/>
            <a:ext cx="4297680" cy="39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5"/>
              </a:lnSpc>
            </a:pPr>
            <a:r>
              <a:rPr lang="en-US" sz="2975" b="1">
                <a:solidFill>
                  <a:srgbClr val="F4703C"/>
                </a:solidFill>
                <a:latin typeface="Roboto Bold"/>
                <a:ea typeface="Roboto Bold"/>
                <a:cs typeface="Roboto Bold"/>
                <a:sym typeface="Roboto Bold"/>
              </a:rPr>
              <a:t>Dynamic Programming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7700" y="6429375"/>
            <a:ext cx="7191375" cy="1285875"/>
          </a:xfrm>
          <a:custGeom>
            <a:avLst/>
            <a:gdLst/>
            <a:ahLst/>
            <a:cxnLst/>
            <a:rect l="l" t="t" r="r" b="b"/>
            <a:pathLst>
              <a:path w="7191375" h="1285875">
                <a:moveTo>
                  <a:pt x="0" y="0"/>
                </a:moveTo>
                <a:lnTo>
                  <a:pt x="7191375" y="0"/>
                </a:lnTo>
                <a:lnTo>
                  <a:pt x="7191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029968" y="6891273"/>
            <a:ext cx="4480560" cy="39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5"/>
              </a:lnSpc>
            </a:pPr>
            <a:r>
              <a:rPr lang="en-US" sz="2975" b="1">
                <a:solidFill>
                  <a:srgbClr val="F4703C"/>
                </a:solidFill>
                <a:latin typeface="Roboto Bold"/>
                <a:ea typeface="Roboto Bold"/>
                <a:cs typeface="Roboto Bold"/>
                <a:sym typeface="Roboto Bold"/>
              </a:rPr>
              <a:t>Randomized Algorithms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7700" y="7924800"/>
            <a:ext cx="447675" cy="2152650"/>
          </a:xfrm>
          <a:custGeom>
            <a:avLst/>
            <a:gdLst/>
            <a:ahLst/>
            <a:cxnLst/>
            <a:rect l="l" t="t" r="r" b="b"/>
            <a:pathLst>
              <a:path w="447675" h="2152650">
                <a:moveTo>
                  <a:pt x="0" y="0"/>
                </a:moveTo>
                <a:lnTo>
                  <a:pt x="447675" y="0"/>
                </a:lnTo>
                <a:lnTo>
                  <a:pt x="44767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47700" y="7924800"/>
            <a:ext cx="16992600" cy="2152650"/>
          </a:xfrm>
          <a:custGeom>
            <a:avLst/>
            <a:gdLst/>
            <a:ahLst/>
            <a:cxnLst/>
            <a:rect l="l" t="t" r="r" b="b"/>
            <a:pathLst>
              <a:path w="16992600" h="2152650">
                <a:moveTo>
                  <a:pt x="0" y="0"/>
                </a:moveTo>
                <a:lnTo>
                  <a:pt x="16992600" y="0"/>
                </a:lnTo>
                <a:lnTo>
                  <a:pt x="169926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719072" y="8207868"/>
            <a:ext cx="11777472" cy="1388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2407">
                <a:solidFill>
                  <a:srgbClr val="12100E"/>
                </a:solidFill>
                <a:latin typeface="Roboto"/>
                <a:ea typeface="Roboto"/>
                <a:cs typeface="Roboto"/>
                <a:sym typeface="Roboto"/>
              </a:rPr>
              <a:t>These algorithms are integrated into real system operations, not added separately. For example, </a:t>
            </a:r>
            <a:r>
              <a:rPr lang="en-US" sz="2407" b="1">
                <a:solidFill>
                  <a:srgbClr val="F4703C"/>
                </a:solidFill>
                <a:latin typeface="Roboto Bold"/>
                <a:ea typeface="Roboto Bold"/>
                <a:cs typeface="Roboto Bold"/>
                <a:sym typeface="Roboto Bold"/>
              </a:rPr>
              <a:t>KMP</a:t>
            </a:r>
            <a:r>
              <a:rPr lang="en-US" sz="2407">
                <a:solidFill>
                  <a:srgbClr val="12100E"/>
                </a:solidFill>
                <a:latin typeface="Roboto"/>
                <a:ea typeface="Roboto"/>
                <a:cs typeface="Roboto"/>
                <a:sym typeface="Roboto"/>
              </a:rPr>
              <a:t> improves search efficiency within the question bank, while </a:t>
            </a:r>
            <a:r>
              <a:rPr lang="en-US" sz="2407" b="1">
                <a:solidFill>
                  <a:srgbClr val="F4703C"/>
                </a:solidFill>
                <a:latin typeface="Roboto Bold"/>
                <a:ea typeface="Roboto Bold"/>
                <a:cs typeface="Roboto Bold"/>
                <a:sym typeface="Roboto Bold"/>
              </a:rPr>
              <a:t>Rabin-Karp</a:t>
            </a:r>
            <a:r>
              <a:rPr lang="en-US" sz="2407">
                <a:solidFill>
                  <a:srgbClr val="12100E"/>
                </a:solidFill>
                <a:latin typeface="Roboto"/>
                <a:ea typeface="Roboto"/>
                <a:cs typeface="Roboto"/>
                <a:sym typeface="Roboto"/>
              </a:rPr>
              <a:t> helps detect repeated questions.</a:t>
            </a:r>
          </a:p>
        </p:txBody>
      </p:sp>
      <p:sp>
        <p:nvSpPr>
          <p:cNvPr id="20" name="Freeform 20"/>
          <p:cNvSpPr/>
          <p:nvPr/>
        </p:nvSpPr>
        <p:spPr>
          <a:xfrm>
            <a:off x="7620000" y="3000375"/>
            <a:ext cx="10020300" cy="1285875"/>
          </a:xfrm>
          <a:custGeom>
            <a:avLst/>
            <a:gdLst/>
            <a:ahLst/>
            <a:cxnLst/>
            <a:rect l="l" t="t" r="r" b="b"/>
            <a:pathLst>
              <a:path w="10020300" h="1285875">
                <a:moveTo>
                  <a:pt x="0" y="0"/>
                </a:moveTo>
                <a:lnTo>
                  <a:pt x="10020300" y="0"/>
                </a:lnTo>
                <a:lnTo>
                  <a:pt x="10020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8796528" y="3570008"/>
            <a:ext cx="5010912" cy="32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7"/>
              </a:lnSpc>
            </a:pPr>
            <a:r>
              <a:rPr lang="en-US" sz="2337">
                <a:solidFill>
                  <a:srgbClr val="12100E"/>
                </a:solidFill>
                <a:latin typeface="Roboto"/>
                <a:ea typeface="Roboto"/>
                <a:cs typeface="Roboto"/>
                <a:sym typeface="Roboto"/>
              </a:rPr>
              <a:t>Efficient question and topic searching</a:t>
            </a:r>
          </a:p>
        </p:txBody>
      </p:sp>
      <p:sp>
        <p:nvSpPr>
          <p:cNvPr id="22" name="Freeform 22"/>
          <p:cNvSpPr/>
          <p:nvPr/>
        </p:nvSpPr>
        <p:spPr>
          <a:xfrm>
            <a:off x="7620000" y="4286250"/>
            <a:ext cx="10020300" cy="1285875"/>
          </a:xfrm>
          <a:custGeom>
            <a:avLst/>
            <a:gdLst/>
            <a:ahLst/>
            <a:cxnLst/>
            <a:rect l="l" t="t" r="r" b="b"/>
            <a:pathLst>
              <a:path w="10020300" h="1285875">
                <a:moveTo>
                  <a:pt x="0" y="0"/>
                </a:moveTo>
                <a:lnTo>
                  <a:pt x="10020300" y="0"/>
                </a:lnTo>
                <a:lnTo>
                  <a:pt x="10020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8796528" y="4700366"/>
            <a:ext cx="5266944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>
                <a:solidFill>
                  <a:srgbClr val="12100E"/>
                </a:solidFill>
                <a:latin typeface="Roboto"/>
                <a:ea typeface="Roboto"/>
                <a:cs typeface="Roboto"/>
                <a:sym typeface="Roboto"/>
              </a:rPr>
              <a:t>Detecting repeated or similar questions</a:t>
            </a:r>
          </a:p>
        </p:txBody>
      </p:sp>
      <p:sp>
        <p:nvSpPr>
          <p:cNvPr id="24" name="Freeform 24"/>
          <p:cNvSpPr/>
          <p:nvPr/>
        </p:nvSpPr>
        <p:spPr>
          <a:xfrm>
            <a:off x="7620000" y="5353050"/>
            <a:ext cx="10020300" cy="1295400"/>
          </a:xfrm>
          <a:custGeom>
            <a:avLst/>
            <a:gdLst/>
            <a:ahLst/>
            <a:cxnLst/>
            <a:rect l="l" t="t" r="r" b="b"/>
            <a:pathLst>
              <a:path w="10020300" h="1295400">
                <a:moveTo>
                  <a:pt x="0" y="0"/>
                </a:moveTo>
                <a:lnTo>
                  <a:pt x="10020300" y="0"/>
                </a:lnTo>
                <a:lnTo>
                  <a:pt x="10020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8796528" y="5831936"/>
            <a:ext cx="5705856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>
                <a:solidFill>
                  <a:srgbClr val="12100E"/>
                </a:solidFill>
                <a:latin typeface="Roboto"/>
                <a:ea typeface="Roboto"/>
                <a:cs typeface="Roboto"/>
                <a:sym typeface="Roboto"/>
              </a:rPr>
              <a:t>Question-set optimization and comparison</a:t>
            </a:r>
          </a:p>
        </p:txBody>
      </p:sp>
      <p:sp>
        <p:nvSpPr>
          <p:cNvPr id="26" name="Freeform 26"/>
          <p:cNvSpPr/>
          <p:nvPr/>
        </p:nvSpPr>
        <p:spPr>
          <a:xfrm>
            <a:off x="7620000" y="6429375"/>
            <a:ext cx="10020300" cy="1285875"/>
          </a:xfrm>
          <a:custGeom>
            <a:avLst/>
            <a:gdLst/>
            <a:ahLst/>
            <a:cxnLst/>
            <a:rect l="l" t="t" r="r" b="b"/>
            <a:pathLst>
              <a:path w="10020300" h="1285875">
                <a:moveTo>
                  <a:pt x="0" y="0"/>
                </a:moveTo>
                <a:lnTo>
                  <a:pt x="10020300" y="0"/>
                </a:lnTo>
                <a:lnTo>
                  <a:pt x="10020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796528" y="6953219"/>
            <a:ext cx="4261104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>
                <a:solidFill>
                  <a:srgbClr val="12100E"/>
                </a:solidFill>
                <a:latin typeface="Roboto"/>
                <a:ea typeface="Roboto"/>
                <a:cs typeface="Roboto"/>
                <a:sym typeface="Roboto"/>
              </a:rPr>
              <a:t>Generating varied question 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38150" cy="1714500"/>
          </a:xfrm>
          <a:custGeom>
            <a:avLst/>
            <a:gdLst/>
            <a:ahLst/>
            <a:cxnLst/>
            <a:rect l="l" t="t" r="r" b="b"/>
            <a:pathLst>
              <a:path w="438150" h="1714500">
                <a:moveTo>
                  <a:pt x="0" y="0"/>
                </a:moveTo>
                <a:lnTo>
                  <a:pt x="438150" y="0"/>
                </a:lnTo>
                <a:lnTo>
                  <a:pt x="4381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86384" y="544639"/>
            <a:ext cx="14063472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7"/>
              </a:lnSpc>
            </a:pPr>
            <a:r>
              <a:rPr lang="en-US" sz="754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Methodology Summary – Input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6384" y="1874465"/>
            <a:ext cx="11466576" cy="39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system is powered by three core inputs that enable accurate and meaningful analytics.</a:t>
            </a:r>
          </a:p>
        </p:txBody>
      </p:sp>
      <p:sp>
        <p:nvSpPr>
          <p:cNvPr id="6" name="Freeform 6"/>
          <p:cNvSpPr/>
          <p:nvPr/>
        </p:nvSpPr>
        <p:spPr>
          <a:xfrm>
            <a:off x="647700" y="2781300"/>
            <a:ext cx="10020300" cy="6219825"/>
          </a:xfrm>
          <a:custGeom>
            <a:avLst/>
            <a:gdLst/>
            <a:ahLst/>
            <a:cxnLst/>
            <a:rect l="l" t="t" r="r" b="b"/>
            <a:pathLst>
              <a:path w="10020300" h="6219825">
                <a:moveTo>
                  <a:pt x="0" y="0"/>
                </a:moveTo>
                <a:lnTo>
                  <a:pt x="10020300" y="0"/>
                </a:lnTo>
                <a:lnTo>
                  <a:pt x="10020300" y="6219825"/>
                </a:lnTo>
                <a:lnTo>
                  <a:pt x="0" y="6219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61872" y="3263837"/>
            <a:ext cx="1207008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8"/>
              </a:lnSpc>
            </a:pPr>
            <a:r>
              <a:rPr lang="en-US" sz="7973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6432" y="3274691"/>
            <a:ext cx="3017520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Student information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56432" y="3782288"/>
            <a:ext cx="3401568" cy="710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Demographic and academic details of examinees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1872" y="5259515"/>
            <a:ext cx="1335024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8"/>
              </a:lnSpc>
            </a:pPr>
            <a:r>
              <a:rPr lang="en-US" sz="7973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56432" y="5239508"/>
            <a:ext cx="3438144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Examination questions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56432" y="5736818"/>
            <a:ext cx="3547872" cy="710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Structured question sets with answers and metadata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1872" y="7316915"/>
            <a:ext cx="1335024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8"/>
              </a:lnSpc>
            </a:pPr>
            <a:r>
              <a:rPr lang="en-US" sz="7973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56432" y="7266047"/>
            <a:ext cx="2596896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Student answers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56432" y="7763357"/>
            <a:ext cx="3054096" cy="710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Responses submitted by students during exams</a:t>
            </a:r>
          </a:p>
        </p:txBody>
      </p:sp>
      <p:sp>
        <p:nvSpPr>
          <p:cNvPr id="16" name="Freeform 16"/>
          <p:cNvSpPr/>
          <p:nvPr/>
        </p:nvSpPr>
        <p:spPr>
          <a:xfrm>
            <a:off x="12192000" y="3000375"/>
            <a:ext cx="5448300" cy="6000750"/>
          </a:xfrm>
          <a:custGeom>
            <a:avLst/>
            <a:gdLst/>
            <a:ahLst/>
            <a:cxnLst/>
            <a:rect l="l" t="t" r="r" b="b"/>
            <a:pathLst>
              <a:path w="5448300" h="6000750">
                <a:moveTo>
                  <a:pt x="0" y="0"/>
                </a:moveTo>
                <a:lnTo>
                  <a:pt x="5448300" y="0"/>
                </a:lnTo>
                <a:lnTo>
                  <a:pt x="544830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668000" y="5572125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877550" y="5781675"/>
            <a:ext cx="1752600" cy="219075"/>
          </a:xfrm>
          <a:custGeom>
            <a:avLst/>
            <a:gdLst/>
            <a:ahLst/>
            <a:cxnLst/>
            <a:rect l="l" t="t" r="r" b="b"/>
            <a:pathLst>
              <a:path w="1752600" h="219075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167360" y="4979670"/>
            <a:ext cx="3310128" cy="180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1"/>
              </a:lnSpc>
            </a:pPr>
            <a:r>
              <a:rPr lang="en-US" sz="3967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Online Examination Analytics Tool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876300" cy="1714500"/>
          </a:xfrm>
          <a:custGeom>
            <a:avLst/>
            <a:gdLst/>
            <a:ahLst/>
            <a:cxnLst/>
            <a:rect l="l" t="t" r="r" b="b"/>
            <a:pathLst>
              <a:path w="876300" h="1714500">
                <a:moveTo>
                  <a:pt x="0" y="0"/>
                </a:moveTo>
                <a:lnTo>
                  <a:pt x="876300" y="0"/>
                </a:lnTo>
                <a:lnTo>
                  <a:pt x="8763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41248" y="578929"/>
            <a:ext cx="1078992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8"/>
              </a:lnSpc>
            </a:pPr>
            <a:r>
              <a:rPr lang="en-US" sz="7973" b="1">
                <a:solidFill>
                  <a:srgbClr val="131011"/>
                </a:solidFill>
                <a:latin typeface="Roboto Bold"/>
                <a:ea typeface="Roboto Bold"/>
                <a:cs typeface="Roboto Bold"/>
                <a:sym typeface="Roboto Bold"/>
              </a:rPr>
              <a:t>Methodology Summary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1248" y="1901571"/>
            <a:ext cx="4315968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6"/>
              </a:lnSpc>
            </a:pPr>
            <a:r>
              <a:rPr lang="en-US" sz="6413" b="1">
                <a:solidFill>
                  <a:srgbClr val="FF9D6A"/>
                </a:solidFill>
                <a:latin typeface="Roboto Bold"/>
                <a:ea typeface="Roboto Bold"/>
                <a:cs typeface="Roboto Bold"/>
                <a:sym typeface="Roboto Bold"/>
              </a:rPr>
              <a:t>Processing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1248" y="3632831"/>
            <a:ext cx="5212080" cy="102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5"/>
              </a:lnSpc>
            </a:pPr>
            <a:r>
              <a:rPr lang="en-US" sz="2939">
                <a:solidFill>
                  <a:srgbClr val="131011"/>
                </a:solidFill>
                <a:latin typeface="Roboto"/>
                <a:ea typeface="Roboto"/>
                <a:cs typeface="Roboto"/>
                <a:sym typeface="Roboto"/>
              </a:rPr>
              <a:t>Evaluate answers and generate performance feedback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1248" y="5086172"/>
            <a:ext cx="5596128" cy="1056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4"/>
              </a:lnSpc>
            </a:pPr>
            <a:r>
              <a:rPr lang="en-US" sz="3045">
                <a:solidFill>
                  <a:srgbClr val="131011"/>
                </a:solidFill>
                <a:latin typeface="Roboto"/>
                <a:ea typeface="Roboto"/>
                <a:cs typeface="Roboto"/>
                <a:sym typeface="Roboto"/>
              </a:rPr>
              <a:t>Store results securely for retrieval and reporting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1248" y="6577787"/>
            <a:ext cx="5084064" cy="1056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4"/>
              </a:lnSpc>
            </a:pPr>
            <a:r>
              <a:rPr lang="en-US" sz="3045">
                <a:solidFill>
                  <a:srgbClr val="131011"/>
                </a:solidFill>
                <a:latin typeface="Roboto"/>
                <a:ea typeface="Roboto"/>
                <a:cs typeface="Roboto"/>
                <a:sym typeface="Roboto"/>
              </a:rPr>
              <a:t>Use DSA-based operations for efficient data handling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1248" y="8128250"/>
            <a:ext cx="4901184" cy="102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5"/>
              </a:lnSpc>
            </a:pPr>
            <a:r>
              <a:rPr lang="en-US" sz="2939">
                <a:solidFill>
                  <a:srgbClr val="131011"/>
                </a:solidFill>
                <a:latin typeface="Roboto"/>
                <a:ea typeface="Roboto"/>
                <a:cs typeface="Roboto"/>
                <a:sym typeface="Roboto"/>
              </a:rPr>
              <a:t>Analyze performance metrics to deliver actionable insights</a:t>
            </a:r>
          </a:p>
        </p:txBody>
      </p:sp>
      <p:sp>
        <p:nvSpPr>
          <p:cNvPr id="10" name="Freeform 10"/>
          <p:cNvSpPr/>
          <p:nvPr/>
        </p:nvSpPr>
        <p:spPr>
          <a:xfrm>
            <a:off x="8486775" y="1714500"/>
            <a:ext cx="8496300" cy="7505700"/>
          </a:xfrm>
          <a:custGeom>
            <a:avLst/>
            <a:gdLst/>
            <a:ahLst/>
            <a:cxnLst/>
            <a:rect l="l" t="t" r="r" b="b"/>
            <a:pathLst>
              <a:path w="8496300" h="7505700">
                <a:moveTo>
                  <a:pt x="0" y="0"/>
                </a:moveTo>
                <a:lnTo>
                  <a:pt x="8496300" y="0"/>
                </a:lnTo>
                <a:lnTo>
                  <a:pt x="8496300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868912" y="2952179"/>
            <a:ext cx="186537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sz="2407" b="1">
                <a:solidFill>
                  <a:srgbClr val="131011"/>
                </a:solidFill>
                <a:latin typeface="Roboto Bold"/>
                <a:ea typeface="Roboto Bold"/>
                <a:cs typeface="Roboto Bold"/>
                <a:sym typeface="Roboto Bold"/>
              </a:rPr>
              <a:t>EVALUATION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24544" y="5282565"/>
            <a:ext cx="199339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159" b="1">
                <a:solidFill>
                  <a:srgbClr val="131011"/>
                </a:solidFill>
                <a:latin typeface="Roboto Bold"/>
                <a:ea typeface="Roboto Bold"/>
                <a:cs typeface="Roboto Bold"/>
                <a:sym typeface="Roboto Bold"/>
              </a:rPr>
              <a:t>PERFORMANCE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32336" y="7549515"/>
            <a:ext cx="188366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sz="2407" b="1">
                <a:solidFill>
                  <a:srgbClr val="131011"/>
                </a:solidFill>
                <a:latin typeface="Roboto Bold"/>
                <a:ea typeface="Roboto Bold"/>
                <a:cs typeface="Roboto Bold"/>
                <a:sym typeface="Roboto Bold"/>
              </a:rPr>
              <a:t>DSA-BASED OPERATIONS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941296" y="5234940"/>
            <a:ext cx="1335024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337" b="1">
                <a:solidFill>
                  <a:srgbClr val="131011"/>
                </a:solidFill>
                <a:latin typeface="Roboto Bold"/>
                <a:ea typeface="Roboto Bold"/>
                <a:cs typeface="Roboto Bold"/>
                <a:sym typeface="Roboto Bold"/>
              </a:rPr>
              <a:t>RESULT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28625"/>
            <a:ext cx="438150" cy="1285875"/>
          </a:xfrm>
          <a:custGeom>
            <a:avLst/>
            <a:gdLst/>
            <a:ahLst/>
            <a:cxnLst/>
            <a:rect l="l" t="t" r="r" b="b"/>
            <a:pathLst>
              <a:path w="438150" h="1285875">
                <a:moveTo>
                  <a:pt x="0" y="0"/>
                </a:moveTo>
                <a:lnTo>
                  <a:pt x="438150" y="0"/>
                </a:lnTo>
                <a:lnTo>
                  <a:pt x="438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04672" y="678194"/>
            <a:ext cx="15051024" cy="107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Methodology Summary – Output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" y="1919163"/>
            <a:ext cx="11631168" cy="37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system generates clear, actionable outputs that turn exam data into meaningful insights.</a:t>
            </a:r>
          </a:p>
        </p:txBody>
      </p:sp>
      <p:sp>
        <p:nvSpPr>
          <p:cNvPr id="6" name="Freeform 6"/>
          <p:cNvSpPr/>
          <p:nvPr/>
        </p:nvSpPr>
        <p:spPr>
          <a:xfrm>
            <a:off x="209550" y="2571750"/>
            <a:ext cx="17649825" cy="7715250"/>
          </a:xfrm>
          <a:custGeom>
            <a:avLst/>
            <a:gdLst/>
            <a:ahLst/>
            <a:cxnLst/>
            <a:rect l="l" t="t" r="r" b="b"/>
            <a:pathLst>
              <a:path w="17649825" h="7715250">
                <a:moveTo>
                  <a:pt x="0" y="0"/>
                </a:moveTo>
                <a:lnTo>
                  <a:pt x="17649825" y="0"/>
                </a:lnTo>
                <a:lnTo>
                  <a:pt x="17649825" y="7715250"/>
                </a:lnTo>
                <a:lnTo>
                  <a:pt x="0" y="7715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010912" y="3476667"/>
            <a:ext cx="969264" cy="1028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5988" b="1">
                <a:solidFill>
                  <a:srgbClr val="F4934A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63440" y="4624488"/>
            <a:ext cx="1627632" cy="41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1"/>
              </a:lnSpc>
            </a:pPr>
            <a:r>
              <a:rPr lang="en-US" sz="2407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ACCURACY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24528" y="5344579"/>
            <a:ext cx="2560320" cy="106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Measures correctness and identifies areas of improvement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50224" y="2756577"/>
            <a:ext cx="969264" cy="1028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5988" b="1">
                <a:solidFill>
                  <a:srgbClr val="F4934A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46720" y="3887426"/>
            <a:ext cx="2176272" cy="79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sz="2301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TOPIC-WISE PERFORMANCE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73568" y="4984534"/>
            <a:ext cx="2340864" cy="106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Breaks down results by topic for </a:t>
            </a:r>
          </a:p>
          <a:p>
            <a:pPr algn="ctr">
              <a:lnSpc>
                <a:spcPts val="2825"/>
              </a:lnSpc>
            </a:pPr>
            <a:r>
              <a:rPr lang="en-US" sz="20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in-depth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16384" y="3456093"/>
            <a:ext cx="987552" cy="1028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5988" b="1">
                <a:solidFill>
                  <a:srgbClr val="F4934A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94592" y="4556081"/>
            <a:ext cx="2212848" cy="79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sz="2301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PERFORMANCE TRENDS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48288" y="5519458"/>
            <a:ext cx="2523744" cy="106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Tracks progress over time to highlight improvement patterns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03120" y="6135562"/>
            <a:ext cx="841248" cy="98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36"/>
              </a:lnSpc>
            </a:pPr>
            <a:r>
              <a:rPr lang="en-US" sz="5740" b="1">
                <a:solidFill>
                  <a:srgbClr val="F4934A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48256" y="7268247"/>
            <a:ext cx="987552" cy="41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1"/>
              </a:lnSpc>
            </a:pPr>
            <a:r>
              <a:rPr lang="en-US" sz="2407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SCORE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81328" y="8008912"/>
            <a:ext cx="2157984" cy="106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Comprehensive scoring for overall exam performance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051024" y="6110139"/>
            <a:ext cx="969264" cy="1028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3"/>
              </a:lnSpc>
            </a:pPr>
            <a:r>
              <a:rPr lang="en-US" sz="5988" b="1">
                <a:solidFill>
                  <a:srgbClr val="F4934A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30400" y="7271849"/>
            <a:ext cx="1792224" cy="79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sz="2301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ANALYTICS DASHBOARD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465808" y="8255800"/>
            <a:ext cx="2157984" cy="106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Centralized view of key metrics and insights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73568" y="7630690"/>
            <a:ext cx="2340864" cy="44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3223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DELIVERING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14032" y="8198748"/>
            <a:ext cx="4059936" cy="1381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5279" b="1">
                <a:solidFill>
                  <a:srgbClr val="F4934A"/>
                </a:solidFill>
                <a:latin typeface="Roboto Bold"/>
                <a:ea typeface="Roboto Bold"/>
                <a:cs typeface="Roboto Bold"/>
                <a:sym typeface="Roboto Bold"/>
              </a:rPr>
              <a:t>ACTIONABLE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500</Words>
  <Application>Microsoft Office PowerPoint</Application>
  <PresentationFormat>Custom</PresentationFormat>
  <Paragraphs>138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Roboto Bold</vt:lpstr>
      <vt:lpstr>Arial</vt:lpstr>
      <vt:lpstr>Roboto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Vamaraju Sai Sahith</cp:lastModifiedBy>
  <cp:revision>3</cp:revision>
  <dcterms:created xsi:type="dcterms:W3CDTF">2006-08-16T00:00:00Z</dcterms:created>
  <dcterms:modified xsi:type="dcterms:W3CDTF">2026-08-18T03:09:48Z</dcterms:modified>
  <dc:identifier>DAHSj0KjKhc</dc:identifier>
</cp:coreProperties>
</file>